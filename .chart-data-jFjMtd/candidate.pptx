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ac9e728d04762" /><Relationship Type="http://schemas.openxmlformats.org/officeDocument/2006/relationships/extended-properties" Target="/docProps/app.xml" Id="R2ec756c2ca924e7b" /><Relationship Type="http://schemas.openxmlformats.org/officeDocument/2006/relationships/officeDocument" Target="/ppt/presentation.xml" Id="Rcbd7eb7c89ad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909702267e41c0"/>
  </p:sldMasterIdLst>
  <p:notesMasterIdLst>
    <p:notesMasterId xmlns:r="http://schemas.openxmlformats.org/officeDocument/2006/relationships" r:id="Re9980ae45909449d"/>
  </p:notesMasterIdLst>
  <p:sldIdLst>
    <p:sldId xmlns:r="http://schemas.openxmlformats.org/officeDocument/2006/relationships" id="256" r:id="R9ecae04322364e13"/>
    <p:sldId xmlns:r="http://schemas.openxmlformats.org/officeDocument/2006/relationships" id="257" r:id="R80ba6cb7e364449d"/>
    <p:sldId xmlns:r="http://schemas.openxmlformats.org/officeDocument/2006/relationships" id="258" r:id="Rb4db2ddced93471d"/>
    <p:sldId xmlns:r="http://schemas.openxmlformats.org/officeDocument/2006/relationships" id="259" r:id="Ree04d20242f74003"/>
    <p:sldId xmlns:r="http://schemas.openxmlformats.org/officeDocument/2006/relationships" id="260" r:id="Rfd6e73ec10bd492f"/>
    <p:sldId xmlns:r="http://schemas.openxmlformats.org/officeDocument/2006/relationships" id="261" r:id="Rf0a2889ad2cd41bf"/>
    <p:sldId xmlns:r="http://schemas.openxmlformats.org/officeDocument/2006/relationships" id="262" r:id="R3ea1761f27ce453e"/>
    <p:sldId xmlns:r="http://schemas.openxmlformats.org/officeDocument/2006/relationships" id="263" r:id="R0c4c1268a44848c9"/>
    <p:sldId xmlns:r="http://schemas.openxmlformats.org/officeDocument/2006/relationships" id="264" r:id="R92bbfcd75aeb4886"/>
    <p:sldId xmlns:r="http://schemas.openxmlformats.org/officeDocument/2006/relationships" id="265" r:id="R51196d95beef4a5e"/>
    <p:sldId xmlns:r="http://schemas.openxmlformats.org/officeDocument/2006/relationships" id="266" r:id="Rb13cb5e06e7345b2"/>
    <p:sldId xmlns:r="http://schemas.openxmlformats.org/officeDocument/2006/relationships" id="267" r:id="Reabe97fc0ec440ce"/>
    <p:sldId xmlns:r="http://schemas.openxmlformats.org/officeDocument/2006/relationships" id="268" r:id="R69dff6eadc644a68"/>
    <p:sldId xmlns:r="http://schemas.openxmlformats.org/officeDocument/2006/relationships" id="269" r:id="R60865e35625146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119b1362ea48b5" /><Relationship Type="http://schemas.openxmlformats.org/officeDocument/2006/relationships/slideMaster" Target="/ppt/slideMasters/slideMaster1.xml" Id="R62909702267e41c0" /><Relationship Type="http://schemas.openxmlformats.org/officeDocument/2006/relationships/notesMaster" Target="/ppt/notesMasters/notesMaster1.xml" Id="Re9980ae45909449d" /><Relationship Type="http://schemas.openxmlformats.org/officeDocument/2006/relationships/presProps" Target="/ppt/presProps.xml" Id="Rc49b1515859c4675" /><Relationship Type="http://schemas.openxmlformats.org/officeDocument/2006/relationships/tableStyles" Target="/ppt/tableStyles.xml" Id="R80b591656dd34d22" /><Relationship Type="http://schemas.openxmlformats.org/officeDocument/2006/relationships/slide" Target="/ppt/slides/slide1.xml" Id="R9ecae04322364e13" /><Relationship Type="http://schemas.openxmlformats.org/officeDocument/2006/relationships/slide" Target="/ppt/slides/slide2.xml" Id="R80ba6cb7e364449d" /><Relationship Type="http://schemas.openxmlformats.org/officeDocument/2006/relationships/slide" Target="/ppt/slides/slide3.xml" Id="Rb4db2ddced93471d" /><Relationship Type="http://schemas.openxmlformats.org/officeDocument/2006/relationships/slide" Target="/ppt/slides/slide4.xml" Id="Ree04d20242f74003" /><Relationship Type="http://schemas.openxmlformats.org/officeDocument/2006/relationships/slide" Target="/ppt/slides/slide5.xml" Id="Rfd6e73ec10bd492f" /><Relationship Type="http://schemas.openxmlformats.org/officeDocument/2006/relationships/slide" Target="/ppt/slides/slide6.xml" Id="Rf0a2889ad2cd41bf" /><Relationship Type="http://schemas.openxmlformats.org/officeDocument/2006/relationships/slide" Target="/ppt/slides/slide7.xml" Id="R3ea1761f27ce453e" /><Relationship Type="http://schemas.openxmlformats.org/officeDocument/2006/relationships/slide" Target="/ppt/slides/slide8.xml" Id="R0c4c1268a44848c9" /><Relationship Type="http://schemas.openxmlformats.org/officeDocument/2006/relationships/slide" Target="/ppt/slides/slide9.xml" Id="R92bbfcd75aeb4886" /><Relationship Type="http://schemas.openxmlformats.org/officeDocument/2006/relationships/slide" Target="/ppt/slides/slide10.xml" Id="R51196d95beef4a5e" /><Relationship Type="http://schemas.openxmlformats.org/officeDocument/2006/relationships/slide" Target="/ppt/slides/slide11.xml" Id="Rb13cb5e06e7345b2" /><Relationship Type="http://schemas.openxmlformats.org/officeDocument/2006/relationships/slide" Target="/ppt/slides/slide12.xml" Id="Reabe97fc0ec440ce" /><Relationship Type="http://schemas.openxmlformats.org/officeDocument/2006/relationships/slide" Target="/ppt/slides/slide13.xml" Id="R69dff6eadc644a68" /><Relationship Type="http://schemas.openxmlformats.org/officeDocument/2006/relationships/slide" Target="/ppt/slides/slide14.xml" Id="R60865e356251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dfae9e6d346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e7566567834342" /><Relationship Type="http://schemas.openxmlformats.org/officeDocument/2006/relationships/notesMaster" Target="/ppt/notesMasters/notesMaster1.xml" Id="Rae579039c620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f6f1232f1c43a8" /><Relationship Type="http://schemas.openxmlformats.org/officeDocument/2006/relationships/notesMaster" Target="/ppt/notesMasters/notesMaster1.xml" Id="Re20ff137573647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d0df2a4ba948a5" /><Relationship Type="http://schemas.openxmlformats.org/officeDocument/2006/relationships/notesMaster" Target="/ppt/notesMasters/notesMaster1.xml" Id="R0183c40a4bfc42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b6190d204413e" /><Relationship Type="http://schemas.openxmlformats.org/officeDocument/2006/relationships/notesMaster" Target="/ppt/notesMasters/notesMaster1.xml" Id="Rf79a32893ceb45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d1287df3264d66" /><Relationship Type="http://schemas.openxmlformats.org/officeDocument/2006/relationships/notesMaster" Target="/ppt/notesMasters/notesMaster1.xml" Id="R08c9ae5fd3b24a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ea3eed655641e2" /><Relationship Type="http://schemas.openxmlformats.org/officeDocument/2006/relationships/notesMaster" Target="/ppt/notesMasters/notesMaster1.xml" Id="Rb8ee7500abda4f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4e08f4575d4675" /><Relationship Type="http://schemas.openxmlformats.org/officeDocument/2006/relationships/notesMaster" Target="/ppt/notesMasters/notesMaster1.xml" Id="Rbb3296b0805441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27718aa2e45a2" /><Relationship Type="http://schemas.openxmlformats.org/officeDocument/2006/relationships/notesMaster" Target="/ppt/notesMasters/notesMaster1.xml" Id="Rad4f1b12883148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02211277404e18" /><Relationship Type="http://schemas.openxmlformats.org/officeDocument/2006/relationships/notesMaster" Target="/ppt/notesMasters/notesMaster1.xml" Id="R8e9d76d1de0744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babab4d4314695" /><Relationship Type="http://schemas.openxmlformats.org/officeDocument/2006/relationships/notesMaster" Target="/ppt/notesMasters/notesMaster1.xml" Id="R30e293f8e30a48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5e7d1c87764eb3" /><Relationship Type="http://schemas.openxmlformats.org/officeDocument/2006/relationships/notesMaster" Target="/ppt/notesMasters/notesMaster1.xml" Id="R3d38c68a48074f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46a4daafa142d7" /><Relationship Type="http://schemas.openxmlformats.org/officeDocument/2006/relationships/notesMaster" Target="/ppt/notesMasters/notesMaster1.xml" Id="R71408fbb0d4440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1e7c1b258f4361" /><Relationship Type="http://schemas.openxmlformats.org/officeDocument/2006/relationships/notesMaster" Target="/ppt/notesMasters/notesMaster1.xml" Id="Rafd0d3f533a842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4b924ec3a44b96" /><Relationship Type="http://schemas.openxmlformats.org/officeDocument/2006/relationships/notesMaster" Target="/ppt/notesMasters/notesMaster1.xml" Id="R3ed45f5819a447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Background and K-means workflow from Chapters 1 and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Problem statement from Chapter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Literature synthesis from Chapter 2; cited works include Jain (2010), Nowak-Brzezińska and Gaibei (2022), and Shrifan et al. (2022).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Research objectives from Section 1.4.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Proposed algorithm from Abstract and Chapters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Dataset summary from Table 3.1 / Appendix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Project plan summarised from Chapter 3 and Appendix A work breakdown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Development tools from Table 3.3 / Appendix B and methodology from Chapter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Evaluation metrics from Section 3.8.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Results from Abstract, Tables 4.1 and 4.3. Chart uses Hungarian accuracy from Table 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Demonstration plan based on the implemented experimental workflow in Chapter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Conclusion and future work from Chapter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c6d02b1c544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408b0c2ea141e6" /><Relationship Type="http://schemas.openxmlformats.org/officeDocument/2006/relationships/slideLayout" Target="/ppt/slideLayouts/slideLayout1.xml" Id="Rdbf854dc24fb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f854dc24fb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50d2f288a4976" /><Relationship Type="http://schemas.openxmlformats.org/officeDocument/2006/relationships/notesSlide" Target="/ppt/notesSlides/notesSlide1.xml" Id="Rc07238b1f56847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ea59a1e2042e8" /><Relationship Type="http://schemas.openxmlformats.org/officeDocument/2006/relationships/notesSlide" Target="/ppt/notesSlides/notesSlide2.xml" Id="Rf73eded091c643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286d84c8548b6" /><Relationship Type="http://schemas.openxmlformats.org/officeDocument/2006/relationships/notesSlide" Target="/ppt/notesSlides/notesSlide3.xml" Id="R4c137c737d1c4f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4fc983fde49f8" /><Relationship Type="http://schemas.openxmlformats.org/officeDocument/2006/relationships/notesSlide" Target="/ppt/notesSlides/notesSlide4.xml" Id="R2adcd70177d244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52124b297430b" /><Relationship Type="http://schemas.openxmlformats.org/officeDocument/2006/relationships/notesSlide" Target="/ppt/notesSlides/notesSlide5.xml" Id="Red1f9770e72d40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1f42b896d49a2" /><Relationship Type="http://schemas.openxmlformats.org/officeDocument/2006/relationships/notesSlide" Target="/ppt/notesSlides/notesSlide6.xml" Id="R34ebd76144d24c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5efa18ff7415b" /><Relationship Type="http://schemas.openxmlformats.org/officeDocument/2006/relationships/notesSlide" Target="/ppt/notesSlides/notesSlide7.xml" Id="Rce88b5772a4342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6607d1a93479f" /><Relationship Type="http://schemas.openxmlformats.org/officeDocument/2006/relationships/notesSlide" Target="/ppt/notesSlides/notesSlide8.xml" Id="R80b0662ebc1f49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1782571194b73" /><Relationship Type="http://schemas.openxmlformats.org/officeDocument/2006/relationships/notesSlide" Target="/ppt/notesSlides/notesSlide9.xml" Id="R21ab618d2e084e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3a92fa5ea49bb" /><Relationship Type="http://schemas.openxmlformats.org/officeDocument/2006/relationships/notesSlide" Target="/ppt/notesSlides/notesSlide10.xml" Id="Racc74fa629d24c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7dd9893474480" /><Relationship Type="http://schemas.openxmlformats.org/officeDocument/2006/relationships/notesSlide" Target="/ppt/notesSlides/notesSlide11.xml" Id="R6e12914da13942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1bed4f4c0455e" /><Relationship Type="http://schemas.openxmlformats.org/officeDocument/2006/relationships/chart" Target="/ppt/slides/charts/chart1.xml" Id="R78cfee595e6348b0" /><Relationship Type="http://schemas.openxmlformats.org/officeDocument/2006/relationships/notesSlide" Target="/ppt/notesSlides/notesSlide12.xml" Id="Rb9c857454abc4c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548194c984b15" /><Relationship Type="http://schemas.openxmlformats.org/officeDocument/2006/relationships/notesSlide" Target="/ppt/notesSlides/notesSlide13.xml" Id="Ra36078b2c90246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a094891124e61" /><Relationship Type="http://schemas.openxmlformats.org/officeDocument/2006/relationships/notesSlide" Target="/ppt/notesSlides/notesSlide14.xml" Id="R78c89369b2684e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Hungarian accuracy</c:v>
          </c:tx>
          <c:spPr>
            <a:solidFill xmlns:a="http://schemas.openxmlformats.org/drawingml/2006/main">
              <a:srgbClr val="3AAFA9"/>
            </a:solidFill>
          </c:spPr>
          <c:cat>
            <c:strRef>
              <c:f>'Chart Data'!$A$2:$A$10</c:f>
              <c:strCache>
                <c:ptCount val="9"/>
                <c:pt idx="0">
                  <c:v>Iris</c:v>
                </c:pt>
                <c:pt idx="1">
                  <c:v>Glass</c:v>
                </c:pt>
                <c:pt idx="2">
                  <c:v>Balance</c:v>
                </c:pt>
                <c:pt idx="3">
                  <c:v>Cancer</c:v>
                </c:pt>
                <c:pt idx="4">
                  <c:v>Wine</c:v>
                </c:pt>
                <c:pt idx="5">
                  <c:v>Vertebral</c:v>
                </c:pt>
                <c:pt idx="6">
                  <c:v>Ecoli</c:v>
                </c:pt>
                <c:pt idx="7">
                  <c:v>Blood</c:v>
                </c:pt>
                <c:pt idx="8">
                  <c:v>Seeds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0.8867</c:v>
                </c:pt>
                <c:pt idx="1">
                  <c:v>0.5984</c:v>
                </c:pt>
                <c:pt idx="2">
                  <c:v>0.5262</c:v>
                </c:pt>
                <c:pt idx="3">
                  <c:v>0.9301</c:v>
                </c:pt>
                <c:pt idx="4">
                  <c:v>0.9761</c:v>
                </c:pt>
                <c:pt idx="5">
                  <c:v>0.5256</c:v>
                </c:pt>
                <c:pt idx="6">
                  <c:v>0.6046</c:v>
                </c:pt>
                <c:pt idx="7">
                  <c:v>0.6448</c:v>
                </c:pt>
                <c:pt idx="8">
                  <c:v>0.8905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F2A72-B0AD-424E-8381-F33C6050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593B3-98B3-4669-BE34-9A49D355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ROBUST CENTROID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5081-320C-430B-9C9D-3B1E0830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9525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Improving K-means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Clustering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F9BDF-347D-4725-8240-BE185795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Lim Jern Fey  |  2206563</a:t>
            </a:r>
          </a:p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Bachelor of Software Engineering (Honours)</a:t>
            </a:r>
          </a:p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Universiti Tunku Abdul Rahman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71557-558D-4DA9-A866-E3CBD33F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B84B"/>
                </a:solidFill>
                <a:latin typeface="Aptos"/>
                <a:ea typeface="Aptos"/>
                <a:cs typeface="Aptos"/>
              </a:rPr>
              <a:t>Oral Presentation</a:t>
            </a:r>
          </a:p>
          <a:p xmlns:a="http://schemas.openxmlformats.org/drawingml/2006/main">
            <a:pPr algn="r">
              <a:defRPr sz="1350" b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B84B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165415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B314D-6D56-41F5-8384-8BC6B7C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87B21-A7D5-42AF-9076-2732C236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4541C-020F-455E-95FF-FADDD59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4FC25-3FF8-4E14-B634-E1E92D75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240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CE88B-3C08-4B4E-8F00-C94725F5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38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52B7C-7F61-4ED6-9416-FC8824A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287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Background and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47261-EC27-47D2-95C6-C37B692A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27841-1C7C-4D80-9281-F24C8A5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E2F51-7397-42CE-B91A-7E56F549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479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Literature and research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71B4E-720F-4112-9F6C-86BB4EFC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97E72-4029-4162-B4AE-B5568291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17EE0-47D2-49D3-90ED-F27EFC6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670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Objectives and proposed 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08F93-E35A-4F1E-8D80-796EA82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174EC-DE04-4C76-8CCB-F85E404E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90F3B-9A8F-42F2-87A2-FC5F636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862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Method, evaluation and results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E1EDC-D1D7-4FFB-AC08-A949E50E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3F7E8-EF88-4D3F-980C-1E37C78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BF3E1-C0FF-4D5E-8AB4-2D00FF9F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053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Demonstration, conclusion and future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89227-D0A2-45F6-AF6A-CA2AD9C5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38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15 minutes presentation</a:t>
            </a:r>
          </a:p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10-15 minutes system demonstration</a:t>
            </a:r>
          </a:p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10 minutes Q&amp;A</a:t>
            </a:r>
          </a:p>
        </p:txBody>
      </p:sp>
    </p:spTree>
    <p:extLst>
      <p:ext uri="{BB962C8B-B14F-4D97-AF65-F5344CB8AC3E}">
        <p14:creationId xmlns:p14="http://schemas.microsoft.com/office/powerpoint/2010/main" val="2059047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0733E-F37A-4C56-BC3D-106E67A5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 clustering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52E01-5B96-4970-919B-308F047B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605B6-7AB3-40B5-BE51-AEB9E681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D1BB0-0D78-41F9-8E82-65018B6A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 partitions unlabelled data into k groups by repeatedly assigning each point to its nearest centroid, then recomputing centroids as arithmetic means.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887A8-8BB7-49FD-80F7-E55BABC1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5300B-B775-4620-8D09-7FF8F25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Initial centroids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37722-F7BF-482A-8F16-9A21C83D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C68BB-9052-4A50-A9EC-A3F8ADAC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B5711-5E17-4524-8AFC-CEF48DF0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Assign nearest centroid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B83FA-D8EC-4D90-AC8B-DEC172D0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B46F2-5A45-46BF-A997-0AD8AA2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2A95A-5BD0-49C4-99DE-84AC3AC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Recompute means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BE290-BA81-4570-98F0-2FB77CED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B5034-67D1-4E7F-9019-C65DD1D5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E227C-B332-45D4-9AC7-F39F073E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 when 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1495C-DA62-4DF6-B93B-DCAD33AD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Why use it?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32072-64B3-40AD-823A-07D483A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8A799-C4C8-4218-825B-DBD65F3E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Simple and computationally efficient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15443-0A02-4CAE-A8DC-329F0D50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05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CC479-B7DC-4423-950E-1D4DB03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5785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Scales to many numerical observations</a:t>
            </a:r>
          </a:p>
        </p:txBody>
      </p:sp>
    </p:spTree>
    <p:extLst>
      <p:ext uri="{BB962C8B-B14F-4D97-AF65-F5344CB8AC3E}">
        <p14:creationId xmlns:p14="http://schemas.microsoft.com/office/powerpoint/2010/main" val="18862992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8FCB6-3919-48F0-9852-BEB16133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86E57-776C-495F-AAF6-29377DF9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D9CBE-9F09-4ACD-98F5-AD577400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0C816-B7EC-40DD-9049-A6509523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F2C86-DB97-4DD4-AE2A-EDE56F9B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Centroid sensitivity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9F274-7EFD-4649-8ADF-A9523A46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8242E-B617-4EFE-A682-05D8B4E5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Feature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1E8E2-5C22-4494-A35E-42BDC9B5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909C7-27BA-4619-B854-E044994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Distance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A9283-1CD8-4B19-8273-A42BC2A7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Outliers pull the arithmetic mean away from the main group and distort cluster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CC9C7-B3BA-4FC3-938D-261E6264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Features with large numerical ranges can dominate the distance calculation.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19E1C-5449-41D5-B5F3-1EE9077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Different metrics create different assignments, and their effect depends on the dataset.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B79C6-F28E-467F-851B-CC9699D5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1D2E5-E90C-4646-AA87-298111E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62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question: How can preprocessing and distance selection improve K-means accuracy and stability without losing its simplicity?</a:t>
            </a:r>
          </a:p>
        </p:txBody>
      </p:sp>
    </p:spTree>
    <p:extLst>
      <p:ext uri="{BB962C8B-B14F-4D97-AF65-F5344CB8AC3E}">
        <p14:creationId xmlns:p14="http://schemas.microsoft.com/office/powerpoint/2010/main" val="19187775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1C3F8-2D81-4DC7-9395-1C5B6DFE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Literature review and 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09F59-6F4E-4B87-8671-9992C58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E717F-54F7-428E-9841-48D8787C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9D059-6F6B-4963-9BDA-816AA67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Existing work confirms that K-means is sensitive to outliers, scale, and distance measures. However, the benefit of each technique varies with the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7EBE8-1795-4192-9634-ECCE4398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A2C5E-024D-4761-89B2-B45CBD77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401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What literature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60BB5-F043-495C-95E3-B35D41CC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B9233-965D-4D97-96AD-5275967A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Outliers can shift mean-based centroids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7E1F7-0700-44FD-AC55-C80068BA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46788-EEB5-4EBC-9A89-2F8D24C8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6235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Normalisation changes feature influence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C6E59-1774-4837-8DB9-9C23C18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BEB7D-89A8-44C6-A1E3-0D29E2A8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Distance metrics alter cluster 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3D100-9323-42CF-AE23-2B3E709D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1860E-A147-46F2-94B6-8B38EF18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3842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Gap addressed in this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BDB1B-233A-45C2-A995-77830E3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28E1A-7AD2-47CB-80D9-E80A171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Compare the three factors within one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25113-FE83-4301-8057-82DBEA15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AD010-F4E2-4528-A646-784534D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235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Measure both accuracy and stability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2E0AE-B992-4FD4-8788-35C1790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4C7A8-8D71-4D7E-8D90-BAFEA69D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767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3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Test configurations across nine benchmark datasets</a:t>
            </a:r>
          </a:p>
        </p:txBody>
      </p:sp>
    </p:spTree>
    <p:extLst>
      <p:ext uri="{BB962C8B-B14F-4D97-AF65-F5344CB8AC3E}">
        <p14:creationId xmlns:p14="http://schemas.microsoft.com/office/powerpoint/2010/main" val="3673167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FEF73-DA5F-4164-954B-2CBB5A5E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AE181-FA25-43F7-A083-378A8DE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D2DC7-B297-4075-9023-F372E39B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B7355-4C03-431D-AF20-8741EAA6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CEDAA-6688-460E-B456-EA2B835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3A51A-43B9-4EE9-AD8A-8281F19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Outlier removal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58ED1-E3B8-43C1-B62D-35450298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3835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Examine its impact on K-means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237FD-CC56-49C5-ADAC-C7A198D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5CD9C-FDF1-4E60-9323-FE551EC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6A24F-C6C9-49C0-8484-87D88F27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Data normalisation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EC0E9-10B2-4233-BBBF-BAEFEF1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19475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Evaluate how scaling methods affect clustering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05881-054A-447D-8D40-2439E9E6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E462C-8B4F-40BC-A017-6E8DDAA4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863B3-0D91-4AF4-B4B1-60B120C6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Distance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48821-71D5-4751-B0BD-A552731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Analyse their impact on cluster formation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623785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5F72C-5FCE-484D-A8D8-C8922BB0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Proposed robust K-means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848CF-922C-498E-A9A7-805487F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DDDFB-2C91-4C9B-BDF6-61DC69C8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D68C0-7A95-43A6-A5A2-9249940F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9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C6973"/>
                </a:solidFill>
                <a:latin typeface="Aptos"/>
                <a:ea typeface="Aptos"/>
                <a:cs typeface="Aptos"/>
              </a:rPr>
              <a:t>Candidate configuration selected after comparing preprocessing and distance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2470-8685-409A-A58C-9237728A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7A8AF-AAAE-4E3C-8A57-15DFC5A0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Robust Z-score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2.5σ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E3362-2159-494A-9236-F8C989F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400F7-37E3-44D5-AF82-33EDFF9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83213-7FE5-4245-9A14-D4CF40A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Min-Max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normalisation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48BDC-2B50-40E5-88ED-7F2F21D5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E760B-FF52-4268-8F3A-2B70ECB5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7BADB-7BEE-47E6-B4DF-1D120C2B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Euclidean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DD90A-266E-4FC5-A964-946B446E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AD77B-DA5B-40A9-A207-2234023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736EA-386A-4048-B75F-1A68C8B2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K-means with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restarts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48640-CB37-4A98-9C06-B182946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3DB8E-0F36-4847-93B1-BEDC966F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95825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1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across 9 UCI datasets, repeat each configuration 100 times, and report accuracy, quality, and stability.</a:t>
            </a:r>
          </a:p>
        </p:txBody>
      </p:sp>
    </p:spTree>
    <p:extLst>
      <p:ext uri="{BB962C8B-B14F-4D97-AF65-F5344CB8AC3E}">
        <p14:creationId xmlns:p14="http://schemas.microsoft.com/office/powerpoint/2010/main" val="4145395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1D2B5D-8DFE-4974-A27F-C6912D7E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Experimental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16AA-E2A7-4871-A999-8AE2E78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3769F-D015-459E-AAD2-9334777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57490-E3F1-40F4-862B-383D87C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Nine UCI benchmark datasets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02FA7-2B39-46C3-A234-E761201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9AA53-DBF9-40C3-8592-E030AEFC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0761-4803-46A7-8AE8-E30D7606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7BC96-43FC-4EBA-8BFB-A1BB4FE7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DA0ED-A4D5-4847-B508-387C8C0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6FE09-A237-4B63-89F3-D0EF5F37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2EE2E-F7E2-48C5-B81C-AB8BAB70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ECAE6-08BB-4C08-A089-5BB8812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77C34-8738-4406-8BB6-4BD0C7BB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Glass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83A2E-0DC0-431F-A193-7C0B15B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5064A-A711-4CEA-805C-B6A9C5C8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227B4-883C-4E32-AB1F-6365F7FE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0DD1B-1987-4C9B-8AC5-BD57C6F7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50CDE-7E8C-4CC0-A633-F7108B08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3171B-A5DA-4385-BC0F-EAEA1B3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80E74-255D-4EB4-B7E0-6E2C707E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6ABE9-BA6C-4FD0-ABC3-EDE702A8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Cancer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A232A-AD0E-46B5-8724-804384AF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569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9B6BA-87A9-465F-BAF1-F42716BE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77DD9-94F9-4CA2-B2E8-60292CB6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5820B-1E93-485F-B2B1-55FD088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Wine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063E7-DB11-4CD2-B88E-59B5028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414C9-9783-4FD8-A463-EDA367D1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420ED-EF2B-47B8-8389-6B7F4C70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2C9AB-D45E-4D35-BD00-F906550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Vertebral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41E2A-86AD-4C88-98F7-B0AE4CD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B82125-D4D5-47B3-B242-1DF2750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E18E4-8BE0-463B-B749-9D1C418A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FDA4BE-1A4C-4605-A12A-2CCE0D3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Ecoli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EC195-F66B-483A-813B-323029E5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336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44FED8-4D63-4762-B5CB-72360AF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C4F884-FFF9-4EB1-878A-D954C91B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5ED8DD-F195-41A7-8890-B2081682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Blood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E2F053-0C16-4F75-AA45-8A63761E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FE641A-4F0E-4CC3-B30D-870E9A4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87E571-4EE9-4425-A9D4-2BD45CA7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E5B1FC-C34D-4EFF-841A-62DDFA7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646AC7-D3EE-45EB-A470-5077ADDA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693BB8-E585-40D7-9BC6-FD19BF15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5FF308-41B9-4826-BF14-897C8E8A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609882-8BF6-4C99-B54F-9811B85D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EBFA8B-BB35-4E5A-8AB0-22139638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5CDF0C-DDFB-4910-9803-26528935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150 to 748 instances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66EB8C-4881-4EE6-98F0-2A9DB073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F95E40-1C86-461D-8A7F-4AF4FF7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0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 to 30 features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D25BA5-DB53-43E9-8F65-34AC1023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05EA45-3707-41D6-B193-6B746ABE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4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 to 8 clusters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E0DACA-EB7E-4A85-BD02-7B95402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9B4816-8B44-422D-B6DE-4B23AE0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29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44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Balanced and imbalanced classes</a:t>
            </a:r>
          </a:p>
        </p:txBody>
      </p:sp>
    </p:spTree>
    <p:extLst>
      <p:ext uri="{BB962C8B-B14F-4D97-AF65-F5344CB8AC3E}">
        <p14:creationId xmlns:p14="http://schemas.microsoft.com/office/powerpoint/2010/main" val="2179726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574D1-DF24-4AB3-880D-D87617C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Project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700DC-9658-40E7-821E-1340A7A5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ED665-24E3-4332-846C-480B7C47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91E20-8802-42D9-B237-118897B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FYP1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3C383-F7E1-4EF6-9261-DF3F35B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6687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64B34-307C-4BF5-901C-9E88C3E6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Literature review, requirements, experiment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9AF7D-8CE4-40BD-93C3-AD00927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Early FYP2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1C6A8-BCE9-4CBD-94C7-C39A04D2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6702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BF7C8-36F1-419F-B9B7-34696CD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575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 and benchmark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B1C11-887F-4B25-8027-8B67F0C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Late FYP2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E8E0F-D517-48B5-889F-48EF46C9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6717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23211-A9ED-4D42-A98F-6951DAE1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576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Analysis, report writing, 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9E95A-C104-4B89-9695-1E65C18C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The work plan moved from research design to repeated experiments, analysis, and final reporting.</a:t>
            </a:r>
          </a:p>
        </p:txBody>
      </p:sp>
    </p:spTree>
    <p:extLst>
      <p:ext uri="{BB962C8B-B14F-4D97-AF65-F5344CB8AC3E}">
        <p14:creationId xmlns:p14="http://schemas.microsoft.com/office/powerpoint/2010/main" val="1734797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84991-F4C2-4C02-80B1-A6F0EB28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Development approach and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1992D-B802-443E-BD00-F1B130E0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333E9-E40D-4075-845C-8CA49F8E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8CCE3-0BC8-414E-B371-52ABBCE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B364C-735A-478F-A51A-C38EDF1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Load UCI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AB26E-8F5E-4E8B-92FB-695CA355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C824A-C712-4FEC-9332-C2D2CF1C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4ED44-AC6D-41CB-AC04-C2CCBA0C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Preprocess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2D1C7-6060-4F57-8356-A1CEE69E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74B7A-C8F1-47B0-AA29-15E2E911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C87DD-E212-4A6A-A4EB-CBD807F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Run custom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57260-2F17-4664-ACAF-76654553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B1AA3-0C42-4068-B4A7-7A1CBF7D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229EA-4E8A-4478-B746-2E08A9A4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D071B-6CFF-419A-9CB4-B8E6E88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B308A-FC48-4F7C-AF40-9E7A12B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434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52A28-C3A6-4CB5-8742-477BBDE6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53D71-F9FC-40DB-81C7-9261A8B7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Python 3.12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FD604-530F-4EFD-A6AB-6790ACB6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0448C-8007-4D75-BFE0-71C4CCA0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197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NumPy,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39D3D-A8E9-45C7-B3C5-8DB98E5E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58534-F046-4058-A35D-A15DF01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340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scikit-learn, SciPy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70B59-24B0-4540-931E-5535397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796D7-CC30-4E4A-8464-F4D301C0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484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VS Code and Git/GitHub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BE268-833F-40A5-AE78-F6BC1A7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F6833-0A5D-4298-BA35-435F16B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264A0-3804-44F6-9D3D-79BD732D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3962A-D269-485C-8959-8FF4773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05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Numerical UCI datasets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FBE3F5-5F01-4846-B168-2C51718B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F4BE5-C3B7-4B5A-AF89-D3C3749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Known class labels for external evaluation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E103D-A0D7-41AB-A23D-3C138A05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81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26974-7627-475C-B615-DA993F45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9340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Repeatable random initialisation</a:t>
            </a:r>
          </a:p>
        </p:txBody>
      </p:sp>
    </p:spTree>
    <p:extLst>
      <p:ext uri="{BB962C8B-B14F-4D97-AF65-F5344CB8AC3E}">
        <p14:creationId xmlns:p14="http://schemas.microsoft.com/office/powerpoint/2010/main" val="16365698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E415A-F71E-4264-87E2-AA3D7606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3D29D-C78F-499C-9C7C-27C697C3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FA1A8-B6F6-47C4-B95B-8204BA6B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F11BE-518E-4BC3-8C75-088A494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C3B69-71E5-497D-8291-968005BC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Internal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E693D-343D-4C61-B17D-0CCCDECF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Inertia and Silhouette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8C601-9429-4D0C-9BAA-5860A4B0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B23D8-8BD3-4B1D-BB1A-F2752DEC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External agreement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2DCE8-3AD9-4743-9F49-AFF64F4D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ARI, NMI, Purity and Hungarian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A4227-2311-45E8-8C48-7F722D4B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DABC5-D429-4BE5-B296-1C9241C8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Class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ADCB3-CD94-4D82-A199-0C5B115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Precision, Recall and Macro-F1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9EEEC-8201-40CC-B6C0-9761118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C07E4-07F3-4923-8E63-022CC6CD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B86CD-1A62-4B83-B13A-36BA83C2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Mean, standard deviation, minimum and maximum across 100 repetitions</a:t>
            </a:r>
          </a:p>
        </p:txBody>
      </p:sp>
    </p:spTree>
    <p:extLst>
      <p:ext uri="{BB962C8B-B14F-4D97-AF65-F5344CB8AC3E}">
        <p14:creationId xmlns:p14="http://schemas.microsoft.com/office/powerpoint/2010/main" val="5281628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9C83E-4F5B-419E-83B2-E5CD3CA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Key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1153D-70AD-4D9C-AF96-EB81ABE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2BB3D-1098-450F-A44C-EBD51D64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1F837-0217-465B-A915-752C5D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Proposed configuration achieved mean clustering accuracy of 0.82 across nine datasets.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04875" y="2238375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cfee595e6348b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FF13C-504F-4677-97C6-CE8C7B5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Performance highlights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B5978-B456-43A6-9C4E-26DF405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C4ED0-D5F7-41B8-806F-9FC11F1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Best or tied best on 4 of 9 datasets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96225-9AE0-4EB2-8969-DB8F5D1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838C1-2945-40BD-A48C-F10E6D6F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5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Largest gains: Glass +0.16 and Ecoli +0.11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841AF-8380-4F7E-B193-E3BE12AA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568C1-402A-4EDB-BA36-38C24BA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No single technique dominated every dataset</a:t>
            </a:r>
          </a:p>
        </p:txBody>
      </p:sp>
    </p:spTree>
    <p:extLst>
      <p:ext uri="{BB962C8B-B14F-4D97-AF65-F5344CB8AC3E}">
        <p14:creationId xmlns:p14="http://schemas.microsoft.com/office/powerpoint/2010/main" val="5250968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64C34-5094-4618-8685-AD466D81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 of the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2F4ED-6772-4DE7-B787-373A4FCF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99A83-A76C-4778-9381-C3D07CCD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90F19-D561-4245-B57D-F5CE49D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36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 flow: run a dataset through the experimental pipeline and inspect the resulting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B6CD6-CE62-4CB4-AA0A-A7F88A6E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99861-23B3-4E32-8374-F65E3D6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Choose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EA7C5-4994-49B9-A86E-265D4D51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99AB5-70B6-4EE3-8652-A21229AB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5D347-684D-4A6C-AA14-DD5EA658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Select preprocessing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307C9-3123-4B8F-8759-863FBF3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AE7EC-F50F-466B-A4C4-7F348BF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229A7-F825-492F-BCA5-D719C2B2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Run 30-restart K-means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FA079-80C3-45B0-808F-2F5D982F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7D62E-67C0-441F-B959-F777383C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CA31C-996C-4A95-B27C-38C484A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metrics and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50261-7DD2-481E-BD7C-19078EDA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Suggested live example: Glass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2B59A-D3F1-4034-8EBF-B8D7B68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E6498-C6D8-474E-96FA-BAA8625F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Show the selected robust Z-score filter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6B341-6C28-4D27-9B75-D032ADA9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0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91939-3571-4FE1-8B99-62149F8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6260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Show Min-Max scaling and Euclidean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4CBFD-4BDB-4694-974E-7E5BC601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2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CD17A-D172-4517-B1ED-B12150E2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769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Run and compare against a baseline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956106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4476A-001A-4CC2-B6DD-1FDECEA1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Conclusion, achievements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EE96E-D40E-45DE-BBBD-56524562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99EEE-FE0F-4CDD-A9F5-324C8EE0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49EDE-86B0-4780-B657-78EDA84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0CB03-BD61-4E5C-98D7-95D10A51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DEE2E-25C5-4503-991C-4F39B74C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 removal, normalisation, and metric choice can improve K-means accuracy and stability, but the best configuration depends on the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FF696-D5DE-47F6-BAF3-59181D92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9296D-A868-41E6-B970-D58CD6E0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478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Objectives achieved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62C0B-F425-4C96-8AAA-BDEAE50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6BEFF-7EEF-4D89-AB17-078CAAA9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0500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Evaluated outlier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F427B-2125-4902-897E-0B982C3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EF827-5D55-45FD-8FC5-0697C44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193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Compared normalisation methods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AD3BE-685A-49AE-9136-EB50277D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E5732-6224-42A2-82CB-56330925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3370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Tested seven distance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88537-93CA-4CFC-8F4A-BE3B0F53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6CE76-181B-4F29-A8C6-226B9537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7A863-46AF-4BEA-89E7-CE174BA3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56422-B95E-4B92-AB0C-8F3B5D4F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Broader preprocessing methods and datasets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DF35D-FB61-47BE-8603-4819E27C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D56CF-4959-4A93-AEEB-BB9AA1A7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Alternative centroid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DDC71-5399-4A5A-8396-1777F35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D463C-E149-444B-920E-86F7E29A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Study initialisation strategies such as k-means++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5CD6C-BC96-4E61-9603-5A395D14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Thank you - Questions?</a:t>
            </a:r>
          </a:p>
        </p:txBody>
      </p:sp>
    </p:spTree>
    <p:extLst>
      <p:ext uri="{BB962C8B-B14F-4D97-AF65-F5344CB8AC3E}">
        <p14:creationId xmlns:p14="http://schemas.microsoft.com/office/powerpoint/2010/main" val="191743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2026-09-14T20:07:07.6750000Z</dcterms:created>
  <dcterms:modified xsi:type="dcterms:W3CDTF">2026-09-14T20:07:07.6750000Z</dcterms:modified>
</coreProperties>
</file>