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96f8da42f4831" /><Relationship Type="http://schemas.openxmlformats.org/officeDocument/2006/relationships/extended-properties" Target="/docProps/app.xml" Id="R054ba3c5453d40dd" /><Relationship Type="http://schemas.openxmlformats.org/officeDocument/2006/relationships/officeDocument" Target="/ppt/presentation.xml" Id="R5790c3b3c480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5171c163e046b0"/>
  </p:sldMasterIdLst>
  <p:notesMasterIdLst>
    <p:notesMasterId xmlns:r="http://schemas.openxmlformats.org/officeDocument/2006/relationships" r:id="R7cbbfb944de04432"/>
  </p:notesMasterIdLst>
  <p:sldIdLst>
    <p:sldId xmlns:r="http://schemas.openxmlformats.org/officeDocument/2006/relationships" id="256" r:id="Rb153456ebde948ab"/>
    <p:sldId xmlns:r="http://schemas.openxmlformats.org/officeDocument/2006/relationships" id="257" r:id="R13e68e2d660b449e"/>
    <p:sldId xmlns:r="http://schemas.openxmlformats.org/officeDocument/2006/relationships" id="258" r:id="R25f27a2feed54697"/>
    <p:sldId xmlns:r="http://schemas.openxmlformats.org/officeDocument/2006/relationships" id="259" r:id="Re60b0b494360423e"/>
    <p:sldId xmlns:r="http://schemas.openxmlformats.org/officeDocument/2006/relationships" id="260" r:id="Rb8c2a6e7e17a4f1b"/>
    <p:sldId xmlns:r="http://schemas.openxmlformats.org/officeDocument/2006/relationships" id="261" r:id="Rfb7c19c550a24663"/>
    <p:sldId xmlns:r="http://schemas.openxmlformats.org/officeDocument/2006/relationships" id="262" r:id="Re0388b86ed434c18"/>
    <p:sldId xmlns:r="http://schemas.openxmlformats.org/officeDocument/2006/relationships" id="263" r:id="Rbd62b58da36243d3"/>
    <p:sldId xmlns:r="http://schemas.openxmlformats.org/officeDocument/2006/relationships" id="264" r:id="Rab9f91dc375b46c5"/>
    <p:sldId xmlns:r="http://schemas.openxmlformats.org/officeDocument/2006/relationships" id="265" r:id="R25af313313fd41ec"/>
    <p:sldId xmlns:r="http://schemas.openxmlformats.org/officeDocument/2006/relationships" id="266" r:id="R22f8bd2bcf5846f9"/>
    <p:sldId xmlns:r="http://schemas.openxmlformats.org/officeDocument/2006/relationships" id="267" r:id="Rc6b46f996d4c46e1"/>
    <p:sldId xmlns:r="http://schemas.openxmlformats.org/officeDocument/2006/relationships" id="268" r:id="R5a71acdd75e74b50"/>
    <p:sldId xmlns:r="http://schemas.openxmlformats.org/officeDocument/2006/relationships" id="269" r:id="R27625ef4580e4c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2b3b9b95f43ee" /><Relationship Type="http://schemas.openxmlformats.org/officeDocument/2006/relationships/slideMaster" Target="/ppt/slideMasters/slideMaster1.xml" Id="R4d5171c163e046b0" /><Relationship Type="http://schemas.openxmlformats.org/officeDocument/2006/relationships/notesMaster" Target="/ppt/notesMasters/notesMaster1.xml" Id="R7cbbfb944de04432" /><Relationship Type="http://schemas.openxmlformats.org/officeDocument/2006/relationships/presProps" Target="/ppt/presProps.xml" Id="R5f97f11e792d42f6" /><Relationship Type="http://schemas.openxmlformats.org/officeDocument/2006/relationships/tableStyles" Target="/ppt/tableStyles.xml" Id="Refd519941cd5409d" /><Relationship Type="http://schemas.openxmlformats.org/officeDocument/2006/relationships/slide" Target="/ppt/slides/slide1.xml" Id="Rb153456ebde948ab" /><Relationship Type="http://schemas.openxmlformats.org/officeDocument/2006/relationships/slide" Target="/ppt/slides/slide2.xml" Id="R13e68e2d660b449e" /><Relationship Type="http://schemas.openxmlformats.org/officeDocument/2006/relationships/slide" Target="/ppt/slides/slide3.xml" Id="R25f27a2feed54697" /><Relationship Type="http://schemas.openxmlformats.org/officeDocument/2006/relationships/slide" Target="/ppt/slides/slide4.xml" Id="Re60b0b494360423e" /><Relationship Type="http://schemas.openxmlformats.org/officeDocument/2006/relationships/slide" Target="/ppt/slides/slide5.xml" Id="Rb8c2a6e7e17a4f1b" /><Relationship Type="http://schemas.openxmlformats.org/officeDocument/2006/relationships/slide" Target="/ppt/slides/slide6.xml" Id="Rfb7c19c550a24663" /><Relationship Type="http://schemas.openxmlformats.org/officeDocument/2006/relationships/slide" Target="/ppt/slides/slide7.xml" Id="Re0388b86ed434c18" /><Relationship Type="http://schemas.openxmlformats.org/officeDocument/2006/relationships/slide" Target="/ppt/slides/slide8.xml" Id="Rbd62b58da36243d3" /><Relationship Type="http://schemas.openxmlformats.org/officeDocument/2006/relationships/slide" Target="/ppt/slides/slide9.xml" Id="Rab9f91dc375b46c5" /><Relationship Type="http://schemas.openxmlformats.org/officeDocument/2006/relationships/slide" Target="/ppt/slides/slide10.xml" Id="R25af313313fd41ec" /><Relationship Type="http://schemas.openxmlformats.org/officeDocument/2006/relationships/slide" Target="/ppt/slides/slide11.xml" Id="R22f8bd2bcf5846f9" /><Relationship Type="http://schemas.openxmlformats.org/officeDocument/2006/relationships/slide" Target="/ppt/slides/slide12.xml" Id="Rc6b46f996d4c46e1" /><Relationship Type="http://schemas.openxmlformats.org/officeDocument/2006/relationships/slide" Target="/ppt/slides/slide13.xml" Id="R5a71acdd75e74b50" /><Relationship Type="http://schemas.openxmlformats.org/officeDocument/2006/relationships/slide" Target="/ppt/slides/slide14.xml" Id="R27625ef4580e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f66e494e84b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70b72ae2d4182" /><Relationship Type="http://schemas.openxmlformats.org/officeDocument/2006/relationships/notesMaster" Target="/ppt/notesMasters/notesMaster1.xml" Id="R2c6e015fa98f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026a0cbd744e3" /><Relationship Type="http://schemas.openxmlformats.org/officeDocument/2006/relationships/notesMaster" Target="/ppt/notesMasters/notesMaster1.xml" Id="Rcac5ab4afe97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ed7f2e88741d8" /><Relationship Type="http://schemas.openxmlformats.org/officeDocument/2006/relationships/notesMaster" Target="/ppt/notesMasters/notesMaster1.xml" Id="Rd6bea11bd95a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80e53af0a041f0" /><Relationship Type="http://schemas.openxmlformats.org/officeDocument/2006/relationships/notesMaster" Target="/ppt/notesMasters/notesMaster1.xml" Id="R48a271ef8a3d47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2eb96d58e4c16" /><Relationship Type="http://schemas.openxmlformats.org/officeDocument/2006/relationships/notesMaster" Target="/ppt/notesMasters/notesMaster1.xml" Id="R562bfeb505d2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4913ae9d24ff5" /><Relationship Type="http://schemas.openxmlformats.org/officeDocument/2006/relationships/notesMaster" Target="/ppt/notesMasters/notesMaster1.xml" Id="Rda56accb44c9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fb1a24669d428b" /><Relationship Type="http://schemas.openxmlformats.org/officeDocument/2006/relationships/notesMaster" Target="/ppt/notesMasters/notesMaster1.xml" Id="R0e149d60dcaf41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d15280d3b4226" /><Relationship Type="http://schemas.openxmlformats.org/officeDocument/2006/relationships/notesMaster" Target="/ppt/notesMasters/notesMaster1.xml" Id="Ra4eb85409d724a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51fa6f3b847c5" /><Relationship Type="http://schemas.openxmlformats.org/officeDocument/2006/relationships/notesMaster" Target="/ppt/notesMasters/notesMaster1.xml" Id="Rce9b3b7f368b43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dc515c0b5d46f5" /><Relationship Type="http://schemas.openxmlformats.org/officeDocument/2006/relationships/notesMaster" Target="/ppt/notesMasters/notesMaster1.xml" Id="R5508e568c46749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261cb792fa4ea4" /><Relationship Type="http://schemas.openxmlformats.org/officeDocument/2006/relationships/notesMaster" Target="/ppt/notesMasters/notesMaster1.xml" Id="R1728eae9b96d44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7dbf5462ea4b4c" /><Relationship Type="http://schemas.openxmlformats.org/officeDocument/2006/relationships/notesMaster" Target="/ppt/notesMasters/notesMaster1.xml" Id="R984b521685d743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2696779a5a4efd" /><Relationship Type="http://schemas.openxmlformats.org/officeDocument/2006/relationships/notesMaster" Target="/ppt/notesMasters/notesMaster1.xml" Id="R0de4d9538df3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7aa07975894f59" /><Relationship Type="http://schemas.openxmlformats.org/officeDocument/2006/relationships/notesMaster" Target="/ppt/notesMasters/notesMaster1.xml" Id="R4f40f4ad9624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Background and K-means workflow from Chapters 1 and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Problem statement from Chapter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Literature synthesis from Chapter 2; cited works include Jain (2010), Nowak-Brzezińska and Gaibei (2022), and Shrifan et al. (2022).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Research objectives from Section 1.4.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Proposed algorithm from Abstract and Chapters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Dataset summary from Table 3.1 / Appendix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Project plan summarised from Chapter 3 and Appendix A work breakdown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Development tools from Table 3.3 / Appendix B and methodology from Chapter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Evaluation metrics from Section 3.8.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Results from Abstract, Tables 4.1 and 4.3. Chart uses Hungarian accuracy from Table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Demonstration plan based on the implemented experimental workflow in Chapter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Conclusion and future work from Chapter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661a6f83d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4a3a35c4c4b15" /><Relationship Type="http://schemas.openxmlformats.org/officeDocument/2006/relationships/slideLayout" Target="/ppt/slideLayouts/slideLayout1.xml" Id="R4476fffd6a9f49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6fffd6a9f49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edbd50c4b4c59" /><Relationship Type="http://schemas.openxmlformats.org/officeDocument/2006/relationships/notesSlide" Target="/ppt/notesSlides/notesSlide1.xml" Id="R71cc435fe08d44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2f4f153d34ead" /><Relationship Type="http://schemas.openxmlformats.org/officeDocument/2006/relationships/notesSlide" Target="/ppt/notesSlides/notesSlide2.xml" Id="Rb80c63a9b03c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d742394548e9" /><Relationship Type="http://schemas.openxmlformats.org/officeDocument/2006/relationships/notesSlide" Target="/ppt/notesSlides/notesSlide3.xml" Id="R892fb0679a96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994aa57244566" /><Relationship Type="http://schemas.openxmlformats.org/officeDocument/2006/relationships/notesSlide" Target="/ppt/notesSlides/notesSlide4.xml" Id="R2b80a8c51fa4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2381368f48f2" /><Relationship Type="http://schemas.openxmlformats.org/officeDocument/2006/relationships/notesSlide" Target="/ppt/notesSlides/notesSlide5.xml" Id="R5f2b0320e608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972c766054005" /><Relationship Type="http://schemas.openxmlformats.org/officeDocument/2006/relationships/notesSlide" Target="/ppt/notesSlides/notesSlide6.xml" Id="R3d81faad5f1745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810b2fe1d4721" /><Relationship Type="http://schemas.openxmlformats.org/officeDocument/2006/relationships/notesSlide" Target="/ppt/notesSlides/notesSlide7.xml" Id="R881a0c8a179342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0245dae1a435c" /><Relationship Type="http://schemas.openxmlformats.org/officeDocument/2006/relationships/notesSlide" Target="/ppt/notesSlides/notesSlide8.xml" Id="R903d383b7ffe43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4c63ac3424dbc" /><Relationship Type="http://schemas.openxmlformats.org/officeDocument/2006/relationships/notesSlide" Target="/ppt/notesSlides/notesSlide9.xml" Id="R86ebede085e74c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b832ab174261" /><Relationship Type="http://schemas.openxmlformats.org/officeDocument/2006/relationships/notesSlide" Target="/ppt/notesSlides/notesSlide10.xml" Id="R0eedaaf7b4ba48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815271f174bca" /><Relationship Type="http://schemas.openxmlformats.org/officeDocument/2006/relationships/notesSlide" Target="/ppt/notesSlides/notesSlide11.xml" Id="R267a3808427b41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2232b32814710" /><Relationship Type="http://schemas.openxmlformats.org/officeDocument/2006/relationships/chart" Target="/ppt/slides/charts/chart1.xml" Id="R13a3a24fe74c4e74" /><Relationship Type="http://schemas.openxmlformats.org/officeDocument/2006/relationships/notesSlide" Target="/ppt/notesSlides/notesSlide12.xml" Id="R7cd7689f30584f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2fd640984dbb" /><Relationship Type="http://schemas.openxmlformats.org/officeDocument/2006/relationships/notesSlide" Target="/ppt/notesSlides/notesSlide13.xml" Id="Re4828cb5c07445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2fca73feb4fee" /><Relationship Type="http://schemas.openxmlformats.org/officeDocument/2006/relationships/notesSlide" Target="/ppt/notesSlides/notesSlide14.xml" Id="R5dbe7d67b5a142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Hungarian accuracy</c:v>
          </c:tx>
          <c:spPr>
            <a:solidFill xmlns:a="http://schemas.openxmlformats.org/drawingml/2006/main">
              <a:srgbClr val="3AAFA9"/>
            </a:solidFill>
          </c:spPr>
          <c:cat>
            <c:strRef>
              <c:f>'Chart Data'!$A$2:$A$10</c:f>
              <c:strCache>
                <c:ptCount val="9"/>
                <c:pt idx="0">
                  <c:v>Iris</c:v>
                </c:pt>
                <c:pt idx="1">
                  <c:v>Glass</c:v>
                </c:pt>
                <c:pt idx="2">
                  <c:v>Balance</c:v>
                </c:pt>
                <c:pt idx="3">
                  <c:v>Cancer</c:v>
                </c:pt>
                <c:pt idx="4">
                  <c:v>Wine</c:v>
                </c:pt>
                <c:pt idx="5">
                  <c:v>Vertebral</c:v>
                </c:pt>
                <c:pt idx="6">
                  <c:v>Ecoli</c:v>
                </c:pt>
                <c:pt idx="7">
                  <c:v>Blood</c:v>
                </c:pt>
                <c:pt idx="8">
                  <c:v>Seeds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0.8867</c:v>
                </c:pt>
                <c:pt idx="1">
                  <c:v>0.5984</c:v>
                </c:pt>
                <c:pt idx="2">
                  <c:v>0.5262</c:v>
                </c:pt>
                <c:pt idx="3">
                  <c:v>0.9301</c:v>
                </c:pt>
                <c:pt idx="4">
                  <c:v>0.9761</c:v>
                </c:pt>
                <c:pt idx="5">
                  <c:v>0.5256</c:v>
                </c:pt>
                <c:pt idx="6">
                  <c:v>0.6046</c:v>
                </c:pt>
                <c:pt idx="7">
                  <c:v>0.6448</c:v>
                </c:pt>
                <c:pt idx="8">
                  <c:v>0.8905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A37F5-5BC2-41EA-9AE1-AFE77155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49CC9-1342-49E4-83E0-E94B769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ROBUST CENTROID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0FA52-0ECF-40CB-BAD8-22633269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9525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Improving K-means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Clustering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84276-18C1-4D35-A593-F3B76EB1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Lim Jern Fey  |  2206563</a:t>
            </a:r>
          </a:p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Bachelor of Software Engineering (Honours)</a:t>
            </a:r>
          </a:p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Universiti Tunku Abdul Rahman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6EB71-F4CF-41B0-8A10-BEE4377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B84B"/>
                </a:solidFill>
                <a:latin typeface="Aptos"/>
                <a:ea typeface="Aptos"/>
                <a:cs typeface="Aptos"/>
              </a:rPr>
              <a:t>Oral Presentation</a:t>
            </a:r>
          </a:p>
          <a:p xmlns:a="http://schemas.openxmlformats.org/drawingml/2006/main">
            <a:pPr algn="r">
              <a:defRPr sz="1350" b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B84B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570107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583C2-43F5-43A4-91B4-EFBD9E9C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3C3A-2306-414E-8F7B-71768C8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6767E-DDE1-4BDC-AECD-51CBB2BF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1DA7-6A0E-437E-919F-39C5768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24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055A1-1EEE-470E-A5E6-616F57E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38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6925-DF6A-478E-98F6-D2208A1F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287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Background and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EBB09-CA7A-4703-9EC5-3BFF6051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6A594-5256-48F6-9FE9-74FA43E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C8A78-687E-4FAF-95D2-B628887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479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Literature and research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E12AE-0B34-414F-BCCB-1CFF26C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774FF-1F83-4814-A733-969B88FD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6EE82-B6DC-4FC0-A42E-69FFA34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670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Objectives and proposed 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635B4-CEC3-42E4-8E9D-8877EFB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B4A33-2C0B-4BEE-8471-5295E6C3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65C99-F68D-4EC9-95FD-40B00B14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862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Method, evaluation and 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18548-8859-425B-8733-BB8FE33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E314E-4409-4352-B73A-332AA48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7ABA8-E959-42E0-9597-AAA06B5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Demonstration, conclusion and future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2E66F-DBD8-4A84-A9EE-4A9A3AFE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38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15 minutes presentation</a:t>
            </a:r>
          </a:p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10-15 minutes system demonstration</a:t>
            </a:r>
          </a:p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10 minutes Q&amp;A</a:t>
            </a:r>
          </a:p>
        </p:txBody>
      </p:sp>
    </p:spTree>
    <p:extLst>
      <p:ext uri="{BB962C8B-B14F-4D97-AF65-F5344CB8AC3E}">
        <p14:creationId xmlns:p14="http://schemas.microsoft.com/office/powerpoint/2010/main" val="14318788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428E9-0E19-45DB-BFDF-CD5F8C7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 clustering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6E765-7764-4319-AE50-92BE841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8E3F8-698C-407A-91D8-F33EA56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79DE3-249F-4E7C-9A6B-BA2BE84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 partitions unlabelled data into k groups by repeatedly assigning each point to its nearest centroid, then recomputing centroids as arithmetic means.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BC437-A763-422C-AD7E-EC6626B2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49CB0-F7CE-4AB0-94D8-FA727C76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Initial centroids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F8513-7DD1-459F-9991-96C25AF8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3DE51-7701-4981-819D-4ED17F6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A3F93-6D82-4C70-8A83-48E48C4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Assign nearest centroid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5312F-1483-4589-AA1E-A2025266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A9A10-ADE9-43E8-9565-9AC4EF47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AC6FF-BC82-4D51-9790-CEA50BCB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Recompute 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5730B-5E6C-4D44-A278-731A21F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FA333-AB16-48D0-A365-D623D239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F772E-2580-4B61-96F9-C3190907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 when 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3D286-A9E9-443D-A1A9-714F207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Why use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3D9A6-8C13-424C-BA32-B48C1421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FF152-EEBA-4CC7-B227-4D65905C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Simple and computationally efficient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CA1F7-2EC9-4644-BC17-386056A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05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37F5E-625D-43F7-B77E-7651B5C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5785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Scales to many numerical observations</a:t>
            </a:r>
          </a:p>
        </p:txBody>
      </p:sp>
    </p:spTree>
    <p:extLst>
      <p:ext uri="{BB962C8B-B14F-4D97-AF65-F5344CB8AC3E}">
        <p14:creationId xmlns:p14="http://schemas.microsoft.com/office/powerpoint/2010/main" val="1213751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647D6-7C28-47A3-9A0A-F834460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20C6B-645E-4242-8E95-7B604763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A1E19-DA3B-4A88-8A7C-694E1417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1E459-1521-4B44-BEE4-491D0B7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2420-87F0-4848-B9D5-0DDD7A6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Centroid sensitivity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9B6AF-6CA0-450B-8C67-9CA6B772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BB5DB-5A95-4924-9EE4-9051886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Feature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D7E82-B89C-4491-A54B-6228255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B0AD1-74E8-46A5-9638-CC301BEF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Distance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DF230-A180-4296-9C77-13531D6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Outliers pull the arithmetic mean away from the main group and distort cluster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C9F53-2192-4163-AF7F-1F544C8B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Features with large numerical ranges can dominate the distance calculation.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58073-7574-4680-9D35-99AAA56F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Different metrics create different assignments, and their effect depends on the dataset.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69546-9B57-4D13-8965-C5DC2C4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941E0-D2A2-4540-86E4-5D46FA7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62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question: How can preprocessing and distance selection improve K-means accuracy and stability without losing its simplicity?</a:t>
            </a:r>
          </a:p>
        </p:txBody>
      </p:sp>
    </p:spTree>
    <p:extLst>
      <p:ext uri="{BB962C8B-B14F-4D97-AF65-F5344CB8AC3E}">
        <p14:creationId xmlns:p14="http://schemas.microsoft.com/office/powerpoint/2010/main" val="20647472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7116F-7426-4E7A-960C-CCF0D64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Literature review and 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01917-2124-48BC-8664-33E4E1C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1CEC7-1DE7-4B06-B2ED-F876379F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4C1E-F57B-401E-A803-00D2EE9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Existing work confirms that K-means is sensitive to outliers, scale, and distance measures. However, the benefit of each technique varies with the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6CCEA-4167-4FBD-BD6E-A85747B0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92C3E-ADED-4103-8EAB-F7066C89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401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What literature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0D6D6-6CCE-4C99-8E03-8EDD5A7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B87C-5F07-4DEA-BF77-1796893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Outliers can shift mean-based centroids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DD164-5D8F-400C-A01D-FB6CAB08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DFFDD-ADE1-48A8-A25E-6D5CAF23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Normalisation changes feature influence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34E8-1192-4E10-BFF1-BD969D2E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EE0AF-AE7E-457F-B6BB-C00D039D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Distance metrics alter cluster 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9E7F5-4CEA-470F-A1E5-023AF6D8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E5D27-EF24-47A5-8E5D-F7508333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384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Gap addressed in this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B7160-5915-445A-832F-D41FF91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C995F-3E0A-4032-95DE-06AABF7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Compare the three factors within one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C80BD-04DF-4BC0-9F03-A6DA072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DD072-113B-4DEB-A1FE-A98C35A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23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Measure both accuracy and stability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9C54D-6BA3-4D70-BE28-CC8DC17C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23204-72C1-4CAD-8392-CD592364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767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Test configurations across nine benchmark datasets</a:t>
            </a:r>
          </a:p>
        </p:txBody>
      </p:sp>
    </p:spTree>
    <p:extLst>
      <p:ext uri="{BB962C8B-B14F-4D97-AF65-F5344CB8AC3E}">
        <p14:creationId xmlns:p14="http://schemas.microsoft.com/office/powerpoint/2010/main" val="1889350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8A410-A447-4F50-890D-7E076562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8DD6-BCF9-4058-9B31-C37332B6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74BC8-284D-4EDE-8ABA-01CF42E3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4AB02-B1EE-44BC-B8F4-616AEF79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541EF-2D3E-433E-A23B-B26F5AC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1C218-51AA-4511-9851-CDEB14F9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Outlier removal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E450C-A4C1-41DF-94D3-D99517F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383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Examine its impact on K-means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1ACB1-6C49-4A9C-BFE5-C49AE90B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B926F-E620-4740-8718-1881445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75865-7903-4A8E-A1D8-786A15B7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Data normalisation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70FAB-AD30-404B-B062-E072065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19475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Evaluate how scaling methods affect clustering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5AC86-D65F-4099-905D-9EA6E11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7911E-EDB1-4503-83CB-FC7477F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4493E-8898-4919-90E5-6597F837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Distance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0694A-0D2C-4D75-A208-7743659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Analyse their impact on cluster formation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06224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A4D4F-F69F-4936-A5E3-CBF1E78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Proposed robust K-means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5C795-6AF0-4E5D-B0DC-E3F5557B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3C03A-8085-48FC-9EC0-5DF0DC1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3B16A-C85E-41BA-AC27-6DD2194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9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C6973"/>
                </a:solidFill>
                <a:latin typeface="Aptos"/>
                <a:ea typeface="Aptos"/>
                <a:cs typeface="Aptos"/>
              </a:rPr>
              <a:t>Candidate configuration selected after comparing preprocessing and distance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5C606-55DE-4670-B13C-B30844FA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BC6AB-7818-4EE9-8077-C99C637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Robust Z-score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2.5σ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B11A2-9316-4A09-A08D-C7DFEA6B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225B5-721E-4636-B1F9-FCCDA00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CB874-9B29-4E11-8C6B-AA4BAC6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Min-Max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normalisation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897C6-C0ED-4DF7-97CE-749B6B5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78485-A791-478E-9DA5-8756FED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475AC-3CB9-411F-8CEB-D52FFE34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Euclidean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77C22-556B-4C45-945C-E47244AF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F1DFE-3E31-47C3-AEDC-F609C4C3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0AB31-995F-4B6E-9A21-7B1B7B0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K-means with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restarts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0E781-5884-447B-AD0E-6D1DFAC7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38AF0-C24F-493E-B6FC-C53CEEC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95825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1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across 9 UCI datasets, repeat each configuration 100 times, and report accuracy, quality, and stability.</a:t>
            </a:r>
          </a:p>
        </p:txBody>
      </p:sp>
    </p:spTree>
    <p:extLst>
      <p:ext uri="{BB962C8B-B14F-4D97-AF65-F5344CB8AC3E}">
        <p14:creationId xmlns:p14="http://schemas.microsoft.com/office/powerpoint/2010/main" val="4578384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511A20-E68D-4478-9120-627E6A9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Experimental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7BDEE-F584-4CC1-943F-2BCF93B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92C86-2F71-4D81-BA25-435EB385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A2370-1F75-4EEE-9F87-1AE644D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Nine UCI benchmark 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0790F-9049-4617-AE65-9214AF9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18E61-84F0-4C3B-A1AC-5D555870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2584E-2743-4BF5-AEFD-1F7C5E03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9126C-D942-478B-8CD8-7F9310E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388F4-1A92-4D6B-95B8-6DDBCF1D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87F49-9EA3-44E9-BB2E-4A02CF12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6EB29-A232-414D-BD31-9E950DF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793E1-E650-4AA3-BEAA-653CAB55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160E0-4859-42E1-BED4-9D6A3094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Glass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A18E5-177D-4BC8-B4AC-85B840F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D56D7-528C-4691-9921-1D655C0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1E7B-28AE-44F7-92CB-5868F9F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EEF91-54C6-49DA-B952-94A8FE1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73934-AB66-41B4-B83C-D070A5B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42E8E-FA93-4D3B-93DD-7DE7B29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F4D6A-BF88-412A-9F70-84FF8790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22EAB-4E52-406E-817D-1FB3B3CE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Cancer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B4131-A9E4-4A23-A6B5-E493113E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569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DDAEC-0704-43EB-B66F-F06D8C75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2E327-73E5-4C79-ACF3-010A8B9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AD039-03CE-493D-A8FE-21BF55CD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Wine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777CE-5C1C-414C-8E1B-6305CEE0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70FB8-DD08-494B-9759-B9A87FC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A2BC9-5BE7-4729-9EC6-52C1382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F6D40-8403-4823-97D4-51B83D8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Vertebral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D6D57-DC0B-43A6-A5A3-BC65852F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7C490-84B3-475E-9B47-1BEAFD1A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2D993-6BC2-4676-9113-73D36EB0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3F099-F62A-4870-913C-F775F0D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Ecoli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6A23E-AB31-4192-8B96-CDBDAC6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336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965C3-022C-412B-B760-03A2650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0AE6C0-4C44-42AB-8841-639DFD9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AC31D-2387-4CA9-BFBA-29A5BB3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Blood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8F7532-3849-4DA7-87AD-8ADECF9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F3C34F-8771-492F-BCB2-6087192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C005C-BE62-4952-9A4E-79DB9C1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6847BF-F8B6-429A-B918-0AF82B47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395D72-1DF5-48FD-BD96-17C8724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CE4C6F-7A68-4B71-A36C-A5BCD4D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44CA99-A95F-485E-825F-EA7DE3F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F77D28-AF32-42C0-A398-6E954C0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83EC0-615A-4E0F-8CE6-6D90F93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738925-1BAA-483D-9080-200E7555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150 to 748 instances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A94A96-23E7-4AAD-9E42-417ADE29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CBF624-5EE8-4F11-B21D-87C6804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0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 to 30 features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55A21-6AD3-4F7E-89C0-57AE853C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45CC22-E6BB-4B04-BF19-731B4786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 to 8 clusters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95D89D-62A2-4DDA-9B9A-D5FBA70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7AF74B-34DA-47D8-9928-4EAA240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4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Balanced and imbalanced classes</a:t>
            </a:r>
          </a:p>
        </p:txBody>
      </p:sp>
    </p:spTree>
    <p:extLst>
      <p:ext uri="{BB962C8B-B14F-4D97-AF65-F5344CB8AC3E}">
        <p14:creationId xmlns:p14="http://schemas.microsoft.com/office/powerpoint/2010/main" val="20586476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8EC03-5939-4B68-881E-2DAC988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Project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69655-66E2-441E-90D6-37F79C43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2F4FC-9D14-4F37-B5BA-4DD1987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D6CE1-5BE7-4EFA-A745-4E7114A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FYP1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0D3A1-DD6C-47A4-A368-14061B98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1AFFF-B97D-46B8-9A36-AD43AF6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Literature review, requirements, experiment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C2A92-744D-40BD-AA1F-062EE18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Early FYP2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633E7-B3FE-4E8D-B5C4-5834DD51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6702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1D151-EF5A-4E6C-81E1-E7C3FB70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75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 and benchmark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F4984-3B0B-43BF-82D8-A3E9968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Late FYP2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D9636-8021-4DDA-A897-9072B5F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671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D6E6F-7830-40E6-9504-9D90B0C9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576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Analysis, report writing,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242EE-080A-4B8F-A177-EBE77E6E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The work plan moved from research design to repeated experiments, analysis, and final reporting.</a:t>
            </a:r>
          </a:p>
        </p:txBody>
      </p:sp>
    </p:spTree>
    <p:extLst>
      <p:ext uri="{BB962C8B-B14F-4D97-AF65-F5344CB8AC3E}">
        <p14:creationId xmlns:p14="http://schemas.microsoft.com/office/powerpoint/2010/main" val="9356847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15EF2-F2CC-4E57-875C-1105ACC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Development approach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140C3-750D-4F38-AB7A-09FD5BFE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8FF2C-CDCE-454C-B5D1-59A7D083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B79CE-52A2-4138-A37A-A2A3E53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33D48-86DE-432C-BF06-2C4BB59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Load UCI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15663-0DC8-4383-B7E3-491BE93B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F34D-0DCE-44A9-A663-73FE199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FCC81-34ED-4545-BBA8-0D6C6F20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Preprocess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FFE38-A3FD-45BA-B2FC-AD81F7A9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B8DBF-8F1E-4C0F-BD0C-58E9622C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772E3-F3BD-4F11-A69D-6BDD2863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Run custom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07EEE-D7A9-4E6F-B287-538F10F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11E1D-096E-4464-A25A-B18A3C89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A6AFF-7A69-44CF-A04E-D7195D86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071C1-4AF8-4AD9-A3A4-58B38F2D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83E5A-C414-49F1-8F48-0511CD04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434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B6B60-8B4D-4E7A-BFC0-4BAD2B4D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094DE-41A5-4EE3-9ADB-384B00FB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Python 3.12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428C2-F956-44A4-A1A9-A611FFA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8E0BA-F999-4427-A94B-38DDD561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197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NumPy,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DDB23-9818-4946-B073-8880380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B08AB-941A-4535-BA11-3114F90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340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scikit-learn, SciPy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9926F-CA2E-4D88-993B-EEFA2B3C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AFB8E-7F82-482F-9BC2-C96A6D43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484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VS Code and Git/GitHub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A823B-28DA-494D-A03C-CFB4202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0C8E7-ED03-458D-B37D-EE510FDF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79B7C-5A87-4A71-88E7-E9262E4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B7D6E-7A2D-485C-A86B-D7582CB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05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Numerical UCI datasets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F4AA8-F249-4AE7-8623-88A30E7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C77F7-3DD3-4102-878A-E214E54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Known class labels for external evaluation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2DE8CC-D3F4-459A-8FBB-076EE67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81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F556B-E3C5-4568-B13A-78AE449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9340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Repeatable random initialisation</a:t>
            </a:r>
          </a:p>
        </p:txBody>
      </p:sp>
    </p:spTree>
    <p:extLst>
      <p:ext uri="{BB962C8B-B14F-4D97-AF65-F5344CB8AC3E}">
        <p14:creationId xmlns:p14="http://schemas.microsoft.com/office/powerpoint/2010/main" val="711294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70873-F15E-4CC3-BCFA-EFA25990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1848F-962D-4FF5-B4D8-0807230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58CC8-70A3-4B3D-9E50-A19813EF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82F07-B8F6-4BA7-8006-406AD10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48559-A62E-441C-B649-7AD166F4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Internal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32BF-2EA0-421D-B1B4-0F13AAB4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Inertia and Silhouette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1F3F8-46D7-4CC8-989F-148C1FC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51689-D4D3-4619-ACCD-4A95D31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External agreement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3A1E0-447B-4A6A-A836-8404E80E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ARI, NMI, Purity and Hungarian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9C51D-14BE-487A-99E3-C32C9E9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D96E9-E24C-499C-837E-F04DB4C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Class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9934A-4328-4CA6-A508-7D8541A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Precision, Recall and Macro-F1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AE4D4-6D86-4858-9507-CE161DC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353CE-9135-4863-96E9-118A1374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57F8F-1B2A-497F-B29B-6BAAF04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Mean, standard deviation, minimum and maximum across 100 repetitions</a:t>
            </a:r>
          </a:p>
        </p:txBody>
      </p:sp>
    </p:spTree>
    <p:extLst>
      <p:ext uri="{BB962C8B-B14F-4D97-AF65-F5344CB8AC3E}">
        <p14:creationId xmlns:p14="http://schemas.microsoft.com/office/powerpoint/2010/main" val="15628770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FC6FF-FCFA-4569-9E08-9A7B0CBE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Key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951BE-B0AB-4D54-B074-A713E3B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5C53A-F142-4244-ADC8-E555F4F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6C33E-4B98-45BB-8CF1-12829B0B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Proposed configuration achieved mean clustering accuracy of 0.82 across nine datasets.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04875" y="2238375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3a24fe74c4e7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B99F-9174-4871-A811-5099D4B8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Performance highlights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D7D62-5EC8-499C-BDB7-189A1515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4FE1A-8DAA-4171-9488-54D89E5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Best or tied best on 4 of 9 datasets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376AB-2FA8-4CC8-97FE-CB62986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EEF59-E616-4CAD-9071-9CE0B96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5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Largest gains: Glass +0.16 and Ecoli +0.11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F3020-5128-44C0-849D-FF0E2030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C696-CCF4-4475-8AE3-C5ACE4D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No single technique dominated every dataset</a:t>
            </a:r>
          </a:p>
        </p:txBody>
      </p:sp>
    </p:spTree>
    <p:extLst>
      <p:ext uri="{BB962C8B-B14F-4D97-AF65-F5344CB8AC3E}">
        <p14:creationId xmlns:p14="http://schemas.microsoft.com/office/powerpoint/2010/main" val="9886168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1969E-BB30-46DD-AA56-37A1465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 of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6DEF1-BFC5-4551-9879-EA453AF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675AD-54B0-40B9-BB7D-9A800CF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6162E-E778-4F63-9C62-126D54B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36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 flow: run a dataset through the experimental pipeline and inspect the resulting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C19FE-DF41-44CA-9321-DF9505B7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31203-2506-48B4-A6B0-433C053C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Choose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4BE9D-5D1C-4B98-9A14-0110FF75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F0EC1-0791-43FE-92F0-53278A2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063E8-7F7F-4890-A40F-61F96DCA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Select 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0AF2-9A9D-4973-BB97-76932DA6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23029-40E5-463B-A445-F7D0117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7F2DD-A264-41BF-B038-07BB70AC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Run 30-restart K-means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D7E72-21EB-46E8-914A-40E6D5B3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B385E-1745-4AF2-8A66-529C9D5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80C87-2060-43CB-B394-C8DCDB5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metrics and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9E2F1-8FC0-42B6-B69A-AD25FFC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Suggested live example: Glass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D3298-AE74-4926-8CAB-537FB5E5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5B0ED-9410-4621-9CF2-D99BE7F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Show the selected robust Z-score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D49BF-0E5D-4CC8-A192-275ED6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0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72FE0-B988-4B7E-8637-525A8FE1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6260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Show Min-Max scaling and Euclidean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48B65-FFEB-4946-9A4A-CD258A25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2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FA5E2-62F0-4E7C-A700-A74248A6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769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Run and compare against a baseline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252594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65E07-E08D-438B-B4E1-47E62CA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Conclusion, achievements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AD94D-3DCD-4581-9C98-AA0065C0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8D931-06FE-4A08-852D-6D0382A6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F8F45-20A2-45A1-A4F2-E06A8A81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128F0-3ACE-4EF1-A6DF-3D972B0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3F48D-8449-45FF-A01F-93B0AAE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 removal, normalisation, and metric choice can improve K-means accuracy and stability, but the best configuration depends on the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587B-6C6E-451C-AD6B-B8383EC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985A1-8E59-4483-BE55-2768D4B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478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Objectives achieved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AE57D-57D8-4581-9AF8-5DF42D6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9F058-2937-471A-8994-0893671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Evaluated outlier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CD58C-6876-4295-9035-7EBFF03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70050-304F-4811-BAE4-CEA7B02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193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Compared normalisation methods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D3C2C-6326-4A3C-8A74-BD048FE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4DDA3-D9AC-4B81-B97B-0FF8ED77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337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Tested seven distance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5F127-A143-4219-AC18-D92FFEAF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A5BA5-A47D-4DAD-B36A-F4A3144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7C99C-8A0D-4329-9BF6-7669EE69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F021E-6146-4796-8EF0-0B57B1F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Broader preprocessing methods and datasets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CE6E5-EC15-4CC2-86E1-A96E39EF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CB2A1-2EF9-4051-BBC3-FC5C0D22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Alternative centroid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A40D9-AC5B-4BA4-A150-9F73DAD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0F0A8-5436-45B8-8F41-CEAC0901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Study initialisation strategies such as k-means++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849B4-F253-42E4-81B3-5F0D6D7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Thank you - Questions?</a:t>
            </a:r>
          </a:p>
        </p:txBody>
      </p:sp>
    </p:spTree>
    <p:extLst>
      <p:ext uri="{BB962C8B-B14F-4D97-AF65-F5344CB8AC3E}">
        <p14:creationId xmlns:p14="http://schemas.microsoft.com/office/powerpoint/2010/main" val="77394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2026-09-14T20:07:26.6250000Z</dcterms:created>
  <dcterms:modified xsi:type="dcterms:W3CDTF">2026-09-14T20:07:26.6250000Z</dcterms:modified>
</coreProperties>
</file>